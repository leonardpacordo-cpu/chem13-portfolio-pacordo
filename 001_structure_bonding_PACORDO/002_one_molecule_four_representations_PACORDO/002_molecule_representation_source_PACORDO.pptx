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lecule cards" id="{5db733f6-d472-28c2-65d9-499f756d92b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3" name="Text 1"/>
          <p:cNvSpPr/>
          <p:nvPr/>
        </p:nvSpPr>
        <p:spPr>
          <a:xfrm>
            <a:off x="320040" y="3657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CHEM 13  ·  MOLECULE 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675888"/>
            <a:ext cx="329184" cy="32918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3675888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2"/>
                </a:solidFill>
              </a:rPr>
              <a:t>MOLECULAR FORMULA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498348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ATOM 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365760"/>
            <a:ext cx="4297680" cy="3474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39912" y="365760"/>
            <a:ext cx="3383280" cy="3474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512064"/>
            <a:ext cx="329184" cy="32918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5424" y="51206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tx2"/>
                </a:solidFill>
              </a:rPr>
              <a:t>LEWIS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04504" y="512064"/>
            <a:ext cx="329184" cy="32918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43416" y="512064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tx2"/>
                </a:solidFill>
              </a:rPr>
              <a:t>BOND-LINE (KETCHER)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4023360"/>
            <a:ext cx="7891272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4169664"/>
            <a:ext cx="329184" cy="32918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5424" y="4169664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tx2"/>
                </a:solidFill>
              </a:rPr>
              <a:t>CONDENSED STRUCTURAL FORMULA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5577840"/>
            <a:ext cx="7891272" cy="685800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17" name="Text 15"/>
          <p:cNvSpPr/>
          <p:nvPr/>
        </p:nvSpPr>
        <p:spPr>
          <a:xfrm>
            <a:off x="4023360" y="5669280"/>
            <a:ext cx="173736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347472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atom count verified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82640" y="5669280"/>
            <a:ext cx="155448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347472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valence checked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59040" y="5669280"/>
            <a:ext cx="169164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347472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bond order checked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0" y="5669280"/>
            <a:ext cx="2359152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347472" tIns="0" rIns="4572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same connectivity confirmed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6419088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CHEM 13  |  Asynchronous Activity No. 2</a:t>
            </a:r>
            <a:endParaRPr lang="en-US" sz="1000" dirty="0"/>
          </a:p>
        </p:txBody>
      </p:sp>
      <p:sp>
        <p:nvSpPr>
          <p:cNvPr id="22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3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0" name="Check circle"/>
          <p:cNvSpPr/>
          <p:nvPr/>
        </p:nvSpPr>
        <p:spPr>
          <a:xfrm>
            <a:off x="4123944" y="581101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1" name="Check mark"/>
          <p:cNvSpPr/>
          <p:nvPr/>
        </p:nvSpPr>
        <p:spPr>
          <a:xfrm>
            <a:off x="4123944" y="581101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5" y="52"/>
                </a:moveTo>
                <a:lnTo>
                  <a:pt x="43" y="69"/>
                </a:lnTo>
                <a:lnTo>
                  <a:pt x="76" y="32"/>
                </a:lnTo>
              </a:path>
            </a:pathLst>
          </a:custGeom>
          <a:noFill/>
          <a:ln w="22225" cap="rnd">
            <a:solidFill>
              <a:schemeClr val="bg1"/>
            </a:solidFill>
            <a:round/>
          </a:ln>
        </p:spPr>
      </p:sp>
      <p:sp>
        <p:nvSpPr>
          <p:cNvPr id="42" name="Check circle"/>
          <p:cNvSpPr/>
          <p:nvPr/>
        </p:nvSpPr>
        <p:spPr>
          <a:xfrm>
            <a:off x="5983224" y="581101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3" name="Check mark"/>
          <p:cNvSpPr/>
          <p:nvPr/>
        </p:nvSpPr>
        <p:spPr>
          <a:xfrm>
            <a:off x="5983224" y="581101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5" y="52"/>
                </a:moveTo>
                <a:lnTo>
                  <a:pt x="43" y="69"/>
                </a:lnTo>
                <a:lnTo>
                  <a:pt x="76" y="32"/>
                </a:lnTo>
              </a:path>
            </a:pathLst>
          </a:custGeom>
          <a:noFill/>
          <a:ln w="22225" cap="rnd">
            <a:solidFill>
              <a:schemeClr val="bg1"/>
            </a:solidFill>
            <a:round/>
          </a:ln>
        </p:spPr>
      </p:sp>
      <p:sp>
        <p:nvSpPr>
          <p:cNvPr id="44" name="Check circle"/>
          <p:cNvSpPr/>
          <p:nvPr/>
        </p:nvSpPr>
        <p:spPr>
          <a:xfrm>
            <a:off x="7659624" y="581101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5" name="Check mark"/>
          <p:cNvSpPr/>
          <p:nvPr/>
        </p:nvSpPr>
        <p:spPr>
          <a:xfrm>
            <a:off x="7659624" y="581101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5" y="52"/>
                </a:moveTo>
                <a:lnTo>
                  <a:pt x="43" y="69"/>
                </a:lnTo>
                <a:lnTo>
                  <a:pt x="76" y="32"/>
                </a:lnTo>
              </a:path>
            </a:pathLst>
          </a:custGeom>
          <a:noFill/>
          <a:ln w="22225" cap="rnd">
            <a:solidFill>
              <a:schemeClr val="bg1"/>
            </a:solidFill>
            <a:round/>
          </a:ln>
        </p:spPr>
      </p:sp>
      <p:sp>
        <p:nvSpPr>
          <p:cNvPr id="46" name="Check circle"/>
          <p:cNvSpPr/>
          <p:nvPr/>
        </p:nvSpPr>
        <p:spPr>
          <a:xfrm>
            <a:off x="9473184" y="581101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7" name="Check mark"/>
          <p:cNvSpPr/>
          <p:nvPr/>
        </p:nvSpPr>
        <p:spPr>
          <a:xfrm>
            <a:off x="9473184" y="581101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100" h="100" fill="none">
                <a:moveTo>
                  <a:pt x="25" y="52"/>
                </a:moveTo>
                <a:lnTo>
                  <a:pt x="43" y="69"/>
                </a:lnTo>
                <a:lnTo>
                  <a:pt x="76" y="32"/>
                </a:lnTo>
              </a:path>
            </a:pathLst>
          </a:custGeom>
          <a:noFill/>
          <a:ln w="22225" cap="rnd">
            <a:solidFill>
              <a:schemeClr val="bg1"/>
            </a:solidFill>
            <a:round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Propane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propane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3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8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3  |  H 8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11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2</a:t>
            </a: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endParaRPr lang="en-US" sz="3600" dirty="0"/>
          </a:p>
        </p:txBody>
      </p:sp>
      <p:pic>
        <p:nvPicPr>
          <p:cNvPr id="16" name="Picture 15" descr="001_Propane_Pacor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0485" y="1893570"/>
            <a:ext cx="2342515" cy="701675"/>
          </a:xfrm>
          <a:prstGeom prst="rect">
            <a:avLst/>
          </a:prstGeom>
        </p:spPr>
      </p:pic>
      <p:sp>
        <p:nvSpPr>
          <p:cNvPr id="20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LPG and fuel processing</a:t>
            </a:r>
            <a:endParaRPr lang="en-US" sz="1000" b="0" dirty="0">
              <a:solidFill>
                <a:schemeClr val="tx2"/>
              </a:solidFill>
            </a:endParaRPr>
          </a:p>
        </p:txBody>
      </p:sp>
      <p:pic>
        <p:nvPicPr>
          <p:cNvPr id="24" name="Picture 23" descr="_Propane (structural formul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85" y="-399415"/>
            <a:ext cx="4959350" cy="555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Ethanol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ethanol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6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2  |  H 6  |  O 1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9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2</a:t>
            </a:r>
            <a:r>
              <a:rPr lang="en-US" sz="3600" b="1" dirty="0">
                <a:solidFill>
                  <a:schemeClr val="tx2"/>
                </a:solidFill>
              </a:rPr>
              <a:t>OH</a:t>
            </a:r>
            <a:endParaRPr lang="en-US" sz="3600" dirty="0"/>
          </a:p>
        </p:txBody>
      </p:sp>
      <p:pic>
        <p:nvPicPr>
          <p:cNvPr id="16" name="Picture 15" descr="002_Ethanol_Pacor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895" y="1884045"/>
            <a:ext cx="2638425" cy="725170"/>
          </a:xfrm>
          <a:prstGeom prst="rect">
            <a:avLst/>
          </a:prstGeom>
        </p:spPr>
      </p:pic>
      <p:pic>
        <p:nvPicPr>
          <p:cNvPr id="18" name="Picture 17" descr="lewis_02_ethanol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33900" y="1258570"/>
            <a:ext cx="3124200" cy="223710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Fermentation, distillation, solvents, biofuels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Acetone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propan-2-one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3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6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3  |  H 6  |  O 1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10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r>
              <a:rPr lang="en-US" sz="3600" b="1" dirty="0">
                <a:solidFill>
                  <a:schemeClr val="tx2"/>
                </a:solidFill>
              </a:rPr>
              <a:t>C(=O)CH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Also written CH₃COCH₃</a:t>
            </a:r>
            <a:endParaRPr lang="en-US" sz="1200" dirty="0"/>
          </a:p>
        </p:txBody>
      </p:sp>
      <p:pic>
        <p:nvPicPr>
          <p:cNvPr id="17" name="Picture 16" descr="003_Acetone_Pacor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625" y="1440180"/>
            <a:ext cx="2133600" cy="1874520"/>
          </a:xfrm>
          <a:prstGeom prst="rect">
            <a:avLst/>
          </a:prstGeom>
        </p:spPr>
      </p:pic>
      <p:pic>
        <p:nvPicPr>
          <p:cNvPr id="19" name="Picture 18" descr="lewis_03_aceton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9005" y="947420"/>
            <a:ext cx="2683510" cy="2768600"/>
          </a:xfrm>
          <a:prstGeom prst="rect">
            <a:avLst/>
          </a:prstGeom>
        </p:spPr>
      </p:pic>
      <p:sp>
        <p:nvSpPr>
          <p:cNvPr id="20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Industrial solvent and solvent recovery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Acetic acid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Systematic name: ethanoic acid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4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2  |  H 4  |  O 2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8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CH</a:t>
            </a:r>
            <a:r>
              <a:rPr lang="en-US" sz="3600" b="1" baseline="-40000" dirty="0">
                <a:solidFill>
                  <a:schemeClr val="tx2"/>
                </a:solidFill>
              </a:rPr>
              <a:t>3</a:t>
            </a:r>
            <a:r>
              <a:rPr lang="en-US" sz="3600" b="1" dirty="0">
                <a:solidFill>
                  <a:schemeClr val="tx2"/>
                </a:solidFill>
              </a:rPr>
              <a:t>C(=O)OH</a:t>
            </a:r>
            <a:endParaRPr lang="en-US" sz="36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Also written CH₃COOH</a:t>
            </a:r>
            <a:endParaRPr lang="en-US" sz="1200" dirty="0"/>
          </a:p>
        </p:txBody>
      </p:sp>
      <p:pic>
        <p:nvPicPr>
          <p:cNvPr id="17" name="Picture 16" descr="004_Acetic_Acid_Pacor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1255" y="1499235"/>
            <a:ext cx="2725420" cy="1757045"/>
          </a:xfrm>
          <a:prstGeom prst="rect">
            <a:avLst/>
          </a:prstGeom>
        </p:spPr>
      </p:pic>
      <p:pic>
        <p:nvPicPr>
          <p:cNvPr id="18" name="Picture 17" descr="lewis_04_acetic_aci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8660" y="953770"/>
            <a:ext cx="3124200" cy="284670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Chemical manufacture and acid processing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Ethyl acetate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Systematic name: ethyl ethanoate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4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8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4  |  H 8  |  O 2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14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</a:rPr>
              <a:t>CH</a:t>
            </a:r>
            <a:r>
              <a:rPr lang="en-US" sz="3400" b="1" baseline="-40000" dirty="0">
                <a:solidFill>
                  <a:schemeClr val="tx2"/>
                </a:solidFill>
              </a:rPr>
              <a:t>3</a:t>
            </a:r>
            <a:r>
              <a:rPr lang="en-US" sz="3400" b="1" dirty="0">
                <a:solidFill>
                  <a:schemeClr val="tx2"/>
                </a:solidFill>
              </a:rPr>
              <a:t>C(=O)OCH</a:t>
            </a:r>
            <a:r>
              <a:rPr lang="en-US" sz="3400" b="1" baseline="-40000" dirty="0">
                <a:solidFill>
                  <a:schemeClr val="tx2"/>
                </a:solidFill>
              </a:rPr>
              <a:t>2</a:t>
            </a:r>
            <a:r>
              <a:rPr lang="en-US" sz="3400" b="1" dirty="0">
                <a:solidFill>
                  <a:schemeClr val="tx2"/>
                </a:solidFill>
              </a:rPr>
              <a:t>CH</a:t>
            </a:r>
            <a:r>
              <a:rPr lang="en-US" sz="3400" b="1" baseline="-40000" dirty="0">
                <a:solidFill>
                  <a:schemeClr val="tx2"/>
                </a:solidFill>
              </a:rPr>
              <a:t>3</a:t>
            </a:r>
            <a:endParaRPr lang="en-US" sz="34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Acetyl group joined through O to the ethyl group</a:t>
            </a:r>
            <a:endParaRPr lang="en-US" sz="1200" dirty="0"/>
          </a:p>
        </p:txBody>
      </p:sp>
      <p:pic>
        <p:nvPicPr>
          <p:cNvPr id="17" name="Picture 16" descr="lewis_05_ethyl_acetat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6380" y="1313180"/>
            <a:ext cx="3990340" cy="2298700"/>
          </a:xfrm>
          <a:prstGeom prst="rect">
            <a:avLst/>
          </a:prstGeom>
        </p:spPr>
      </p:pic>
      <p:pic>
        <p:nvPicPr>
          <p:cNvPr id="18" name="Picture 17" descr="005_ethyl_acetate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300" y="1676400"/>
            <a:ext cx="2798445" cy="140271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Esterification, solvents, extraction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Cyclohexane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cyclohexane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6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12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6  |  H 12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18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cyclo-(CH</a:t>
            </a:r>
            <a:r>
              <a:rPr lang="en-US" sz="3600" b="1" baseline="-40000" dirty="0">
                <a:solidFill>
                  <a:schemeClr val="tx2"/>
                </a:solidFill>
              </a:rPr>
              <a:t>2</a:t>
            </a:r>
            <a:r>
              <a:rPr lang="en-US" sz="3600" b="1" dirty="0">
                <a:solidFill>
                  <a:schemeClr val="tx2"/>
                </a:solidFill>
              </a:rPr>
              <a:t>)</a:t>
            </a:r>
            <a:r>
              <a:rPr lang="en-US" sz="3600" b="1" baseline="-40000" dirty="0">
                <a:solidFill>
                  <a:schemeClr val="tx2"/>
                </a:solidFill>
              </a:rPr>
              <a:t>6</a:t>
            </a:r>
            <a:endParaRPr lang="en-US" sz="36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Cyclic: six CH₂ units joined in a ring</a:t>
            </a:r>
            <a:endParaRPr lang="en-US" sz="1200" dirty="0"/>
          </a:p>
        </p:txBody>
      </p:sp>
      <p:pic>
        <p:nvPicPr>
          <p:cNvPr id="17" name="Picture 16" descr="lewis_06_cyclohexan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1695" y="953135"/>
            <a:ext cx="2849245" cy="2799080"/>
          </a:xfrm>
          <a:prstGeom prst="rect">
            <a:avLst/>
          </a:prstGeom>
        </p:spPr>
      </p:pic>
      <p:pic>
        <p:nvPicPr>
          <p:cNvPr id="18" name="Picture 17" descr="006_cyclohexane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815" y="1233805"/>
            <a:ext cx="1903095" cy="2195830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Petrochemical intermediate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Cyclohexanone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cyclohexanone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6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10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6  |  H 10  |  O 1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17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cyclo-C(=O)(CH</a:t>
            </a:r>
            <a:r>
              <a:rPr lang="en-US" sz="3600" b="1" baseline="-40000" dirty="0">
                <a:solidFill>
                  <a:schemeClr val="tx2"/>
                </a:solidFill>
              </a:rPr>
              <a:t>2</a:t>
            </a:r>
            <a:r>
              <a:rPr lang="en-US" sz="3600" b="1" dirty="0">
                <a:solidFill>
                  <a:schemeClr val="tx2"/>
                </a:solidFill>
              </a:rPr>
              <a:t>)</a:t>
            </a:r>
            <a:r>
              <a:rPr lang="en-US" sz="3600" b="1" baseline="-40000" dirty="0">
                <a:solidFill>
                  <a:schemeClr val="tx2"/>
                </a:solidFill>
              </a:rPr>
              <a:t>5</a:t>
            </a:r>
            <a:endParaRPr lang="en-US" sz="36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Cyclic: one C=O carbon and five CH₂ units in a ring</a:t>
            </a:r>
            <a:endParaRPr lang="en-US" sz="1200" dirty="0"/>
          </a:p>
        </p:txBody>
      </p:sp>
      <p:pic>
        <p:nvPicPr>
          <p:cNvPr id="17" name="Picture 16" descr="lewis_07_cyclohexanon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6490" y="1005840"/>
            <a:ext cx="2319020" cy="2689225"/>
          </a:xfrm>
          <a:prstGeom prst="rect">
            <a:avLst/>
          </a:prstGeom>
        </p:spPr>
      </p:pic>
      <p:pic>
        <p:nvPicPr>
          <p:cNvPr id="18" name="Picture 17" descr="007_cyclohexanone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645" y="1165860"/>
            <a:ext cx="1304925" cy="233108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Intermediate in nylon-related manufacturing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Acetaminophen (paracetamol)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N-(4-hydroxyphenyl)acetamide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8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9</a:t>
            </a:r>
            <a:r>
              <a:rPr lang="en-US" sz="3400" b="1" dirty="0">
                <a:solidFill>
                  <a:schemeClr val="bg1"/>
                </a:solidFill>
              </a:rPr>
              <a:t>NO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8  |  H 9  |  N 1  |  O 2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20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CH</a:t>
            </a:r>
            <a:r>
              <a:rPr lang="en-US" sz="3200" b="1" baseline="-40000" dirty="0">
                <a:solidFill>
                  <a:schemeClr val="tx2"/>
                </a:solidFill>
              </a:rPr>
              <a:t>3</a:t>
            </a:r>
            <a:r>
              <a:rPr lang="en-US" sz="3200" b="1" dirty="0">
                <a:solidFill>
                  <a:schemeClr val="tx2"/>
                </a:solidFill>
              </a:rPr>
              <a:t>C(=O)NH–C</a:t>
            </a:r>
            <a:r>
              <a:rPr lang="en-US" sz="3200" b="1" baseline="-40000" dirty="0">
                <a:solidFill>
                  <a:schemeClr val="tx2"/>
                </a:solidFill>
              </a:rPr>
              <a:t>6</a:t>
            </a:r>
            <a:r>
              <a:rPr lang="en-US" sz="3200" b="1" dirty="0">
                <a:solidFill>
                  <a:schemeClr val="tx2"/>
                </a:solidFill>
              </a:rPr>
              <a:t>H</a:t>
            </a:r>
            <a:r>
              <a:rPr lang="en-US" sz="3200" b="1" baseline="-40000" dirty="0">
                <a:solidFill>
                  <a:schemeClr val="tx2"/>
                </a:solidFill>
              </a:rPr>
              <a:t>4</a:t>
            </a:r>
            <a:r>
              <a:rPr lang="en-US" sz="3200" b="1" dirty="0">
                <a:solidFill>
                  <a:schemeClr val="tx2"/>
                </a:solidFill>
              </a:rPr>
              <a:t>–OH</a:t>
            </a:r>
            <a:endParaRPr lang="en-US" sz="32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Ring substituents are para (1,4)</a:t>
            </a:r>
            <a:endParaRPr lang="en-US" sz="1200" dirty="0"/>
          </a:p>
        </p:txBody>
      </p:sp>
      <p:pic>
        <p:nvPicPr>
          <p:cNvPr id="17" name="Picture 16" descr="lewis_08_acetaminophen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9075" y="1005840"/>
            <a:ext cx="1593850" cy="2696210"/>
          </a:xfrm>
          <a:prstGeom prst="rect">
            <a:avLst/>
          </a:prstGeom>
        </p:spPr>
      </p:pic>
      <p:pic>
        <p:nvPicPr>
          <p:cNvPr id="18" name="Picture 17" descr="008_acetaminophen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090" y="1157605"/>
            <a:ext cx="1078865" cy="2348230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Pharmaceutical synthesis and purification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Aspirin (acetylsalicylic acid)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2-acetyloxybenzoic acid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9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8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r>
              <a:rPr lang="en-US" sz="3400" b="1" baseline="-40000" dirty="0">
                <a:solidFill>
                  <a:schemeClr val="bg1"/>
                </a:solidFill>
              </a:rPr>
              <a:t>4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9  |  H 8  |  O 4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21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</a:rPr>
              <a:t>CH</a:t>
            </a:r>
            <a:r>
              <a:rPr lang="en-US" sz="3000" b="1" baseline="-40000" dirty="0">
                <a:solidFill>
                  <a:schemeClr val="tx2"/>
                </a:solidFill>
              </a:rPr>
              <a:t>3</a:t>
            </a:r>
            <a:r>
              <a:rPr lang="en-US" sz="3000" b="1" dirty="0">
                <a:solidFill>
                  <a:schemeClr val="tx2"/>
                </a:solidFill>
              </a:rPr>
              <a:t>C(=O)O–C</a:t>
            </a:r>
            <a:r>
              <a:rPr lang="en-US" sz="3000" b="1" baseline="-40000" dirty="0">
                <a:solidFill>
                  <a:schemeClr val="tx2"/>
                </a:solidFill>
              </a:rPr>
              <a:t>6</a:t>
            </a:r>
            <a:r>
              <a:rPr lang="en-US" sz="3000" b="1" dirty="0">
                <a:solidFill>
                  <a:schemeClr val="tx2"/>
                </a:solidFill>
              </a:rPr>
              <a:t>H</a:t>
            </a:r>
            <a:r>
              <a:rPr lang="en-US" sz="3000" b="1" baseline="-40000" dirty="0">
                <a:solidFill>
                  <a:schemeClr val="tx2"/>
                </a:solidFill>
              </a:rPr>
              <a:t>4</a:t>
            </a:r>
            <a:r>
              <a:rPr lang="en-US" sz="3000" b="1" dirty="0">
                <a:solidFill>
                  <a:schemeClr val="tx2"/>
                </a:solidFill>
              </a:rPr>
              <a:t>–C(=O)OH</a:t>
            </a:r>
            <a:endParaRPr lang="en-US" sz="30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Ring substituents are ortho (1,2)</a:t>
            </a:r>
            <a:endParaRPr lang="en-US" sz="1200" dirty="0"/>
          </a:p>
        </p:txBody>
      </p:sp>
      <p:pic>
        <p:nvPicPr>
          <p:cNvPr id="17" name="Picture 16" descr="lewis_09_aspirin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1990" y="1005840"/>
            <a:ext cx="2975610" cy="2686685"/>
          </a:xfrm>
          <a:prstGeom prst="rect">
            <a:avLst/>
          </a:prstGeom>
        </p:spPr>
      </p:pic>
      <p:pic>
        <p:nvPicPr>
          <p:cNvPr id="18" name="Picture 17" descr="009_aspirin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490" y="1217930"/>
            <a:ext cx="2021205" cy="210375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Pharmaceutical reaction and crystallization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number"/>
          <p:cNvSpPr txBox="1"/>
          <p:nvPr/>
        </p:nvSpPr>
        <p:spPr>
          <a:xfrm>
            <a:off x="320040" y="64008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600" dirty="0"/>
          </a:p>
        </p:txBody>
      </p:sp>
      <p:sp>
        <p:nvSpPr>
          <p:cNvPr id="3" name="Text 20"/>
          <p:cNvSpPr/>
          <p:nvPr>
            <p:ph type="title" idx="120" hasCustomPrompt="1"/>
          </p:nvPr>
        </p:nvSpPr>
        <p:spPr>
          <a:xfrm>
            <a:off x="320040" y="178308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</a:rPr>
              <a:t>Caffeine</a:t>
            </a:r>
            <a:endParaRPr lang="en-US" sz="2200" dirty="0"/>
          </a:p>
        </p:txBody>
      </p:sp>
      <p:sp>
        <p:nvSpPr>
          <p:cNvPr id="4" name="IUPAC name"/>
          <p:cNvSpPr txBox="1"/>
          <p:nvPr/>
        </p:nvSpPr>
        <p:spPr>
          <a:xfrm>
            <a:off x="320040" y="30175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2"/>
                </a:solidFill>
              </a:rPr>
              <a:t>IUPAC: 1,3,7-trimethylpurine-2,6-dione</a:t>
            </a:r>
            <a:endParaRPr lang="en-US" sz="1100" dirty="0"/>
          </a:p>
        </p:txBody>
      </p:sp>
      <p:sp>
        <p:nvSpPr>
          <p:cNvPr id="5" name="Text 20"/>
          <p:cNvSpPr/>
          <p:nvPr>
            <p:ph type="body" idx="121" hasCustomPrompt="1"/>
          </p:nvPr>
        </p:nvSpPr>
        <p:spPr>
          <a:xfrm>
            <a:off x="320040" y="40690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</a:t>
            </a:r>
            <a:r>
              <a:rPr lang="en-US" sz="3400" b="1" baseline="-40000" dirty="0">
                <a:solidFill>
                  <a:schemeClr val="bg1"/>
                </a:solidFill>
              </a:rPr>
              <a:t>8</a:t>
            </a:r>
            <a:r>
              <a:rPr lang="en-US" sz="3400" b="1" dirty="0">
                <a:solidFill>
                  <a:schemeClr val="bg1"/>
                </a:solidFill>
              </a:rPr>
              <a:t>H</a:t>
            </a:r>
            <a:r>
              <a:rPr lang="en-US" sz="3400" b="1" baseline="-40000" dirty="0">
                <a:solidFill>
                  <a:schemeClr val="bg1"/>
                </a:solidFill>
              </a:rPr>
              <a:t>10</a:t>
            </a:r>
            <a:r>
              <a:rPr lang="en-US" sz="3400" b="1" dirty="0">
                <a:solidFill>
                  <a:schemeClr val="bg1"/>
                </a:solidFill>
              </a:rPr>
              <a:t>N</a:t>
            </a:r>
            <a:r>
              <a:rPr lang="en-US" sz="3400" b="1" baseline="-40000" dirty="0">
                <a:solidFill>
                  <a:schemeClr val="bg1"/>
                </a:solidFill>
              </a:rPr>
              <a:t>4</a:t>
            </a:r>
            <a:r>
              <a:rPr lang="en-US" sz="3400" b="1" dirty="0">
                <a:solidFill>
                  <a:schemeClr val="bg1"/>
                </a:solidFill>
              </a:rPr>
              <a:t>O</a:t>
            </a:r>
            <a:r>
              <a:rPr lang="en-US" sz="3400" b="1" baseline="-40000" dirty="0">
                <a:solidFill>
                  <a:schemeClr val="bg1"/>
                </a:solidFill>
              </a:rPr>
              <a:t>2</a:t>
            </a:r>
            <a:endParaRPr lang="en-US" sz="3400" dirty="0"/>
          </a:p>
        </p:txBody>
      </p:sp>
      <p:sp>
        <p:nvSpPr>
          <p:cNvPr id="6" name="Atom tally"/>
          <p:cNvSpPr txBox="1"/>
          <p:nvPr/>
        </p:nvSpPr>
        <p:spPr>
          <a:xfrm>
            <a:off x="320040" y="52395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8  |  H 10  |  N 4  |  O 2</a:t>
            </a:r>
            <a:endParaRPr lang="en-US" sz="1400" dirty="0"/>
          </a:p>
        </p:txBody>
      </p:sp>
      <p:sp>
        <p:nvSpPr>
          <p:cNvPr id="7" name="Atom total"/>
          <p:cNvSpPr txBox="1"/>
          <p:nvPr/>
        </p:nvSpPr>
        <p:spPr>
          <a:xfrm>
            <a:off x="320040" y="5513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24 atoms</a:t>
            </a:r>
            <a:endParaRPr lang="en-US" sz="1200" dirty="0"/>
          </a:p>
        </p:txBody>
      </p:sp>
      <p:sp>
        <p:nvSpPr>
          <p:cNvPr id="8" name="Honeycomb motif"/>
          <p:cNvSpPr/>
          <p:nvPr/>
        </p:nvSpPr>
        <p:spPr>
          <a:xfrm>
            <a:off x="36576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9" name="Honeycomb motif"/>
          <p:cNvSpPr/>
          <p:nvPr/>
        </p:nvSpPr>
        <p:spPr>
          <a:xfrm>
            <a:off x="845820" y="6220663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0" name="Honeycomb motif"/>
          <p:cNvSpPr/>
          <p:nvPr/>
        </p:nvSpPr>
        <p:spPr>
          <a:xfrm>
            <a:off x="1325880" y="5943600"/>
            <a:ext cx="640080" cy="554126"/>
          </a:xfrm>
          <a:prstGeom prst="hexagon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1" name="Lewis placeholder box"/>
          <p:cNvSpPr/>
          <p:nvPr/>
        </p:nvSpPr>
        <p:spPr>
          <a:xfrm>
            <a:off x="4114800" y="1005840"/>
            <a:ext cx="39319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Lewis placeholder text"/>
          <p:cNvSpPr txBox="1"/>
          <p:nvPr/>
        </p:nvSpPr>
        <p:spPr>
          <a:xfrm>
            <a:off x="4206240" y="105156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Ketcher placeholder box"/>
          <p:cNvSpPr/>
          <p:nvPr/>
        </p:nvSpPr>
        <p:spPr>
          <a:xfrm>
            <a:off x="8622792" y="1005840"/>
            <a:ext cx="3017520" cy="26517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4" name="Ketcher placeholder text"/>
          <p:cNvSpPr txBox="1"/>
          <p:nvPr/>
        </p:nvSpPr>
        <p:spPr>
          <a:xfrm>
            <a:off x="8714232" y="1051560"/>
            <a:ext cx="2834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Condensed formula"/>
          <p:cNvSpPr txBox="1"/>
          <p:nvPr/>
        </p:nvSpPr>
        <p:spPr>
          <a:xfrm>
            <a:off x="4206240" y="4526280"/>
            <a:ext cx="7342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CH</a:t>
            </a:r>
            <a:r>
              <a:rPr lang="en-US" sz="2400" b="1" baseline="-40000" dirty="0">
                <a:solidFill>
                  <a:schemeClr val="tx2"/>
                </a:solidFill>
              </a:rPr>
              <a:t>3</a:t>
            </a:r>
            <a:r>
              <a:rPr lang="en-US" sz="2400" b="1" dirty="0">
                <a:solidFill>
                  <a:schemeClr val="tx2"/>
                </a:solidFill>
              </a:rPr>
              <a:t>N1C=NC2=C1C(=O)N(CH</a:t>
            </a:r>
            <a:r>
              <a:rPr lang="en-US" sz="2400" b="1" baseline="-40000" dirty="0">
                <a:solidFill>
                  <a:schemeClr val="tx2"/>
                </a:solidFill>
              </a:rPr>
              <a:t>3</a:t>
            </a:r>
            <a:r>
              <a:rPr lang="en-US" sz="2400" b="1" dirty="0">
                <a:solidFill>
                  <a:schemeClr val="tx2"/>
                </a:solidFill>
              </a:rPr>
              <a:t>)C(=O)N2CH</a:t>
            </a:r>
            <a:r>
              <a:rPr lang="en-US" sz="2400" b="1" baseline="-40000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Condensed note"/>
          <p:cNvSpPr txBox="1"/>
          <p:nvPr/>
        </p:nvSpPr>
        <p:spPr>
          <a:xfrm>
            <a:off x="4206240" y="5074920"/>
            <a:ext cx="7342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Fused rings, so written as a connectivity string. N–CH₃ at N1, N3, N7; C=O at C2 and C6</a:t>
            </a:r>
            <a:endParaRPr lang="en-US" sz="1200" dirty="0"/>
          </a:p>
        </p:txBody>
      </p:sp>
      <p:pic>
        <p:nvPicPr>
          <p:cNvPr id="17" name="Picture 16" descr="lewis_10_caffein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6465" y="1057910"/>
            <a:ext cx="2719705" cy="2599690"/>
          </a:xfrm>
          <a:prstGeom prst="rect">
            <a:avLst/>
          </a:prstGeom>
        </p:spPr>
      </p:pic>
      <p:pic>
        <p:nvPicPr>
          <p:cNvPr id="18" name="Picture 17" descr="0010_caffeine_pacor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035" y="1321435"/>
            <a:ext cx="2176780" cy="2112645"/>
          </a:xfrm>
          <a:prstGeom prst="rect">
            <a:avLst/>
          </a:prstGeom>
        </p:spPr>
      </p:pic>
      <p:sp>
        <p:nvSpPr>
          <p:cNvPr id="19" name="ChE connection"/>
          <p:cNvSpPr txBox="1"/>
          <p:nvPr/>
        </p:nvSpPr>
        <p:spPr>
          <a:xfrm>
            <a:off x="6949440" y="6419088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chemeClr val="tx2"/>
                </a:solidFill>
              </a:rPr>
              <a:t>ChE connection: </a:t>
            </a:r>
            <a:r>
              <a:rPr lang="en-US" sz="1000" b="0" dirty="0">
                <a:solidFill>
                  <a:schemeClr val="tx2"/>
                </a:solidFill>
              </a:rPr>
              <a:t>Extraction, separations, food/pharma processing</a:t>
            </a:r>
            <a:endParaRPr lang="en-US" sz="1000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M13 Green Lab Cards">
  <a:themeElements>
    <a:clrScheme name="CHEM13 Green Lab Cards">
      <a:dk1>
        <a:srgbClr val="1B2B22"/>
      </a:dk1>
      <a:lt1>
        <a:srgbClr val="FFFFFF"/>
      </a:lt1>
      <a:dk2>
        <a:srgbClr val="14532D"/>
      </a:dk2>
      <a:lt2>
        <a:srgbClr val="F1F8F3"/>
      </a:lt2>
      <a:accent1>
        <a:srgbClr val="2E8B57"/>
      </a:accent1>
      <a:accent2>
        <a:srgbClr val="A8D5B5"/>
      </a:accent2>
      <a:accent3>
        <a:srgbClr val="4F6B5A"/>
      </a:accent3>
      <a:accent4>
        <a:srgbClr val="DCEFE2"/>
      </a:accent4>
      <a:accent5>
        <a:srgbClr val="0F3D22"/>
      </a:accent5>
      <a:accent6>
        <a:srgbClr val="7FBF98"/>
      </a:accent6>
      <a:hlink>
        <a:srgbClr val="14532D"/>
      </a:hlink>
      <a:folHlink>
        <a:srgbClr val="4F6B5A"/>
      </a:folHlink>
    </a:clrScheme>
    <a:fontScheme name="CHEM13 Green Lab Card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EM13 Green Lab Cards">
  <a:themeElements>
    <a:clrScheme name="CHEM13 Green Lab Cards">
      <a:dk1>
        <a:srgbClr val="1B2B22"/>
      </a:dk1>
      <a:lt1>
        <a:srgbClr val="FFFFFF"/>
      </a:lt1>
      <a:dk2>
        <a:srgbClr val="14532D"/>
      </a:dk2>
      <a:lt2>
        <a:srgbClr val="F1F8F3"/>
      </a:lt2>
      <a:accent1>
        <a:srgbClr val="2E8B57"/>
      </a:accent1>
      <a:accent2>
        <a:srgbClr val="A8D5B5"/>
      </a:accent2>
      <a:accent3>
        <a:srgbClr val="4F6B5A"/>
      </a:accent3>
      <a:accent4>
        <a:srgbClr val="DCEFE2"/>
      </a:accent4>
      <a:accent5>
        <a:srgbClr val="0F3D22"/>
      </a:accent5>
      <a:accent6>
        <a:srgbClr val="7FBF98"/>
      </a:accent6>
      <a:hlink>
        <a:srgbClr val="14532D"/>
      </a:hlink>
      <a:folHlink>
        <a:srgbClr val="4F6B5A"/>
      </a:folHlink>
    </a:clrScheme>
    <a:fontScheme name="CHEM13 Green Lab Card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WPS Presentation</Application>
  <PresentationFormat>On-screen Show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Source Sans Pro SemiBold</vt:lpstr>
      <vt:lpstr>Georgia</vt:lpstr>
      <vt:lpstr>HarmonyOS Sans SC Light</vt:lpstr>
      <vt:lpstr>Georgia</vt:lpstr>
      <vt:lpstr>Georgia</vt:lpstr>
      <vt:lpstr>Calibri</vt:lpstr>
      <vt:lpstr>书宋-简</vt:lpstr>
      <vt:lpstr>文泉驿正黑</vt:lpstr>
      <vt:lpstr>Microsoft YaHei</vt:lpstr>
      <vt:lpstr>文泉驿微米黑</vt:lpstr>
      <vt:lpstr>Arial Unicode MS</vt:lpstr>
      <vt:lpstr>Emoji icon</vt:lpstr>
      <vt:lpstr>CHEM13 Green Lab Cards</vt:lpstr>
      <vt:lpstr>Propane</vt:lpstr>
      <vt:lpstr>Ethanol</vt:lpstr>
      <vt:lpstr>Acetone</vt:lpstr>
      <vt:lpstr>Acetic acid</vt:lpstr>
      <vt:lpstr>Ethyl acetate</vt:lpstr>
      <vt:lpstr>Cyclohexane</vt:lpstr>
      <vt:lpstr>Cyclohexanone</vt:lpstr>
      <vt:lpstr>Acetaminophen (paracetamol)</vt:lpstr>
      <vt:lpstr>Aspirin (acetylsalicylic acid)</vt:lpstr>
      <vt:lpstr>Caffeine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hsl</cp:lastModifiedBy>
  <cp:revision>4</cp:revision>
  <dcterms:created xsi:type="dcterms:W3CDTF">2026-10-18T05:49:37Z</dcterms:created>
  <dcterms:modified xsi:type="dcterms:W3CDTF">2026-10-18T05:49:37Z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FA32E25B957317B3F15DD46A3E02E4BF_43</vt:lpwstr>
  </property>
  <property fmtid="{D5CDD505-2E9C-101B-9397-08002B2CF9AE}" pid="3" name="KSOProductBuildVer">
    <vt:lpwstr>1033-12.1.2.24824</vt:lpwstr>
  </property>
</Properties>
</file>